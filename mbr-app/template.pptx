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D5901-4540-2040-8BC0-43B051D0EBCA}" v="8" dt="2026-07-06T20:06:37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5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23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La-Z-Boy International -LATAM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DEL DEALER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83248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4B0"/>
                </a:solidFill>
              </a:rPr>
              <a:t>Confidential. Internal Use Only.</a:t>
            </a:r>
            <a:endParaRPr lang="en-US" sz="7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C195FE-7950-801F-587D-1C174838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722" y="243585"/>
            <a:ext cx="2046715" cy="853695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0CE2F6A6-B67B-F4F4-FE6C-B15CC8DDB64E}"/>
              </a:ext>
            </a:extLst>
          </p:cNvPr>
          <p:cNvSpPr/>
          <p:nvPr/>
        </p:nvSpPr>
        <p:spPr>
          <a:xfrm>
            <a:off x="731520" y="31272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6EAF2"/>
                </a:solidFill>
              </a:rPr>
              <a:t>Dealer / Distribuidor:</a:t>
            </a:r>
            <a:endParaRPr lang="en-US" sz="8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D997BDB-717A-478B-0A4E-B98D32776D27}"/>
              </a:ext>
            </a:extLst>
          </p:cNvPr>
          <p:cNvSpPr/>
          <p:nvPr/>
        </p:nvSpPr>
        <p:spPr>
          <a:xfrm>
            <a:off x="2651760" y="3127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DA4B0"/>
                </a:solidFill>
              </a:rPr>
              <a:t>[Dealer Name]</a:t>
            </a:r>
            <a:endParaRPr lang="en-US" sz="85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DB7AE48-2F15-5080-B1D0-69AF5AF7A74D}"/>
              </a:ext>
            </a:extLst>
          </p:cNvPr>
          <p:cNvSpPr/>
          <p:nvPr/>
        </p:nvSpPr>
        <p:spPr>
          <a:xfrm>
            <a:off x="731520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6EAF2"/>
                </a:solidFill>
              </a:rPr>
              <a:t>Country / País:</a:t>
            </a:r>
            <a:endParaRPr lang="en-US" sz="8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7F9DEC5-E6C6-BDE5-D679-87F9E01B71E4}"/>
              </a:ext>
            </a:extLst>
          </p:cNvPr>
          <p:cNvSpPr/>
          <p:nvPr/>
        </p:nvSpPr>
        <p:spPr>
          <a:xfrm>
            <a:off x="2651760" y="33924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DA4B0"/>
                </a:solidFill>
              </a:rPr>
              <a:t>[Country]</a:t>
            </a:r>
            <a:endParaRPr lang="en-US" sz="8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AD22603-200D-1B04-933D-300C986C2699}"/>
              </a:ext>
            </a:extLst>
          </p:cNvPr>
          <p:cNvSpPr/>
          <p:nvPr/>
        </p:nvSpPr>
        <p:spPr>
          <a:xfrm>
            <a:off x="731520" y="3657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6EAF2"/>
                </a:solidFill>
              </a:rPr>
              <a:t>Report Period / Período:</a:t>
            </a:r>
            <a:endParaRPr lang="en-US" sz="8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AAD74591-C357-8A2A-FA4E-BE3A08586B43}"/>
              </a:ext>
            </a:extLst>
          </p:cNvPr>
          <p:cNvSpPr/>
          <p:nvPr/>
        </p:nvSpPr>
        <p:spPr>
          <a:xfrm>
            <a:off x="265176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DA4B0"/>
                </a:solidFill>
              </a:rPr>
              <a:t>[Month Year]</a:t>
            </a:r>
            <a:endParaRPr lang="en-US" sz="85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7CF2832-9240-60C5-C74E-19A8F0E51C26}"/>
              </a:ext>
            </a:extLst>
          </p:cNvPr>
          <p:cNvSpPr/>
          <p:nvPr/>
        </p:nvSpPr>
        <p:spPr>
          <a:xfrm>
            <a:off x="731520" y="39227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6EAF2"/>
                </a:solidFill>
              </a:rPr>
              <a:t>Prepared by / Preparado por:</a:t>
            </a:r>
            <a:endParaRPr lang="en-US" sz="8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1F77A3BE-6BFF-E238-5C49-FCC639A9CAC3}"/>
              </a:ext>
            </a:extLst>
          </p:cNvPr>
          <p:cNvSpPr/>
          <p:nvPr/>
        </p:nvSpPr>
        <p:spPr>
          <a:xfrm>
            <a:off x="2651760" y="3922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DA4B0"/>
                </a:solidFill>
              </a:rPr>
              <a:t>[Name]</a:t>
            </a:r>
            <a:endParaRPr lang="en-US" sz="85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9443469B-9FD3-A4A0-B3B9-5FFB1257EE12}"/>
              </a:ext>
            </a:extLst>
          </p:cNvPr>
          <p:cNvSpPr/>
          <p:nvPr/>
        </p:nvSpPr>
        <p:spPr>
          <a:xfrm>
            <a:off x="73152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6EAF2"/>
                </a:solidFill>
              </a:rPr>
              <a:t>Reviewed with / Revisado con:</a:t>
            </a:r>
            <a:endParaRPr lang="en-US" sz="8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8E3BBB6-B2BA-A87B-72D8-DC93AB5A8673}"/>
              </a:ext>
            </a:extLst>
          </p:cNvPr>
          <p:cNvSpPr/>
          <p:nvPr/>
        </p:nvSpPr>
        <p:spPr>
          <a:xfrm>
            <a:off x="2651760" y="4187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DA4B0"/>
                </a:solidFill>
              </a:rPr>
              <a:t>Jeff + LATAM Team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SNAPSHOT  /  RESUMEN DEL MES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429768" y="941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Active Accounts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Cuentas Activas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9768" y="1307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[#]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16550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total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2578608" y="941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Total Backlog (USD)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Backlog Total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78608" y="1307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$[X,XXX]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78608" y="16550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open orders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17720" y="868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4727448" y="941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Units Invoiced MTD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Unidades Facturadas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27448" y="1307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[#]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27448" y="16550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this month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66560" y="868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6876288" y="941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Revenue Invoiced MTD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Ingresos Facturados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76288" y="1307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$[X,XXX]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76288" y="16550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this month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2029968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320040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MOVEMENTS  /  MOVIMIENTOS CLAVE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377440"/>
            <a:ext cx="8503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/>
          <p:nvPr/>
        </p:nvSpPr>
        <p:spPr>
          <a:xfrm>
            <a:off x="429768" y="2441448"/>
            <a:ext cx="828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Key movements this month / Movimientos clave del mes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9768" y="2651760"/>
            <a:ext cx="8284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8DA4B0"/>
                </a:solidFill>
              </a:rPr>
              <a:t>[Account / retailer + what happened — 1 line per item]</a:t>
            </a:r>
            <a:endParaRPr lang="en-US" sz="9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8DA4B0"/>
                </a:solidFill>
              </a:rPr>
              <a:t>[e.g. Liverpool — confirmed 10-store program, 3 slots each]</a:t>
            </a:r>
            <a:endParaRPr lang="en-US" sz="9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8DA4B0"/>
                </a:solidFill>
              </a:rPr>
              <a:t>[e.g. New contact established with distributor in XYZ]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3630168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/>
          <p:nvPr/>
        </p:nvSpPr>
        <p:spPr>
          <a:xfrm>
            <a:off x="320040" y="3630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FLAGS &amp; ALERTS  /  ALERTAS / ESCALACIONES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/>
          <p:nvPr/>
        </p:nvSpPr>
        <p:spPr>
          <a:xfrm>
            <a:off x="429768" y="404164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Needs from LZB team / </a:t>
            </a:r>
            <a:r>
              <a:rPr lang="en-US" sz="700" b="1" dirty="0" err="1">
                <a:solidFill>
                  <a:srgbClr val="1A6B8A"/>
                </a:solidFill>
              </a:rPr>
              <a:t>Necesidades</a:t>
            </a:r>
            <a:r>
              <a:rPr lang="en-US" sz="700" b="1" dirty="0">
                <a:solidFill>
                  <a:srgbClr val="1A6B8A"/>
                </a:solidFill>
              </a:rPr>
              <a:t> del </a:t>
            </a:r>
            <a:r>
              <a:rPr lang="en-US" sz="700" b="1" dirty="0" err="1">
                <a:solidFill>
                  <a:srgbClr val="1A6B8A"/>
                </a:solidFill>
              </a:rPr>
              <a:t>equipo</a:t>
            </a:r>
            <a:r>
              <a:rPr lang="en-US" sz="700" b="1" dirty="0">
                <a:solidFill>
                  <a:srgbClr val="1A6B8A"/>
                </a:solidFill>
              </a:rPr>
              <a:t> de LZB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9768" y="425196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[Pricing approval / Price list / Marketing asset / Other]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977640"/>
            <a:ext cx="4251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31" name="Text 29"/>
          <p:cNvSpPr/>
          <p:nvPr/>
        </p:nvSpPr>
        <p:spPr>
          <a:xfrm>
            <a:off x="4681728" y="4041648"/>
            <a:ext cx="4032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Blockers this month / </a:t>
            </a:r>
            <a:r>
              <a:rPr lang="en-US" sz="700" b="1" dirty="0" err="1">
                <a:solidFill>
                  <a:srgbClr val="1A6B8A"/>
                </a:solidFill>
              </a:rPr>
              <a:t>Qué</a:t>
            </a:r>
            <a:r>
              <a:rPr lang="en-US" sz="700" b="1" dirty="0">
                <a:solidFill>
                  <a:srgbClr val="1A6B8A"/>
                </a:solidFill>
              </a:rPr>
              <a:t> </a:t>
            </a:r>
            <a:r>
              <a:rPr lang="en-US" sz="700" b="1" dirty="0" err="1">
                <a:solidFill>
                  <a:srgbClr val="1A6B8A"/>
                </a:solidFill>
              </a:rPr>
              <a:t>necesita</a:t>
            </a:r>
            <a:r>
              <a:rPr lang="en-US" sz="700" b="1" dirty="0">
                <a:solidFill>
                  <a:srgbClr val="1A6B8A"/>
                </a:solidFill>
              </a:rPr>
              <a:t> </a:t>
            </a:r>
            <a:r>
              <a:rPr lang="en-US" sz="700" b="1" dirty="0" err="1">
                <a:solidFill>
                  <a:srgbClr val="1A6B8A"/>
                </a:solidFill>
              </a:rPr>
              <a:t>desbloquearse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81728" y="4251960"/>
            <a:ext cx="4032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[Customs / Credit approval / Stock / Logistics / Other]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A019D1E-CF3F-CB05-2B12-DCB246A58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02  ACCOUNT PERFORMANCE  /  DESEMPEÑO POR CUENTA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572"/>
                </a:solidFill>
              </a:rPr>
              <a:t>Fill one row per active account. Add rows as needed.  /  Llenar una fila por cuenta activa. Agregar filas según sea necesario.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320040" y="29718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DA4B0"/>
                </a:solidFill>
              </a:rPr>
              <a:t>Status: 🟢 On Track  🟡 At Risk  🔴 Needs Attention     Rotation = Units Sold ÷ Avg Floor Inventory  /  Rotación = Unidades Vendidas ÷ Inventario Promedio en Piso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320040" y="324612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7" name="Text 145"/>
          <p:cNvSpPr/>
          <p:nvPr/>
        </p:nvSpPr>
        <p:spPr>
          <a:xfrm>
            <a:off x="3200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PERFORMANCE NOTES  /  NOTAS DE DESEMPEÑO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320040" y="3593592"/>
            <a:ext cx="85039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49" name="Text 147"/>
          <p:cNvSpPr/>
          <p:nvPr/>
        </p:nvSpPr>
        <p:spPr>
          <a:xfrm>
            <a:off x="429768" y="3657600"/>
            <a:ext cx="828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Account-level context — what drove results, what under- or over-performed and why / Contexto por cuenta — qué impulsó los resultados, qué sobre o sub-desempeñó y por qué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429768" y="3867912"/>
            <a:ext cx="8284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[Account 1]: [What happened — delivery delay, promo event, low traffic week, etc.]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[Account 2]: [Context]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[Account 3]: [Context]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graphicFrame>
        <p:nvGraphicFramePr>
          <p:cNvPr id="153" name="Table 152">
            <a:extLst>
              <a:ext uri="{FF2B5EF4-FFF2-40B4-BE49-F238E27FC236}">
                <a16:creationId xmlns:a16="http://schemas.microsoft.com/office/drawing/2014/main" id="{B941BF33-8885-5346-AF84-444A286AE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81139"/>
              </p:ext>
            </p:extLst>
          </p:nvPr>
        </p:nvGraphicFramePr>
        <p:xfrm>
          <a:off x="317500" y="1003300"/>
          <a:ext cx="8407400" cy="1980844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34848958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68936325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2462839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38209635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9042915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3755981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4440529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2380678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05916888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0268578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Account
Cuenta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Doors
Tiendas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Slots
Slots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Units Sold
Und. Vendidas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Revenue USD
Ingresos USD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Floor Inv.
Inv. en Piso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Backlog
Backlog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Rotation
Rotación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vs Target
vs Meta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FFFFFF"/>
                          </a:solidFill>
                        </a:rPr>
                        <a:t>Status
Estatus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16454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[Account 1]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[0.0x]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[▲/▼ %]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600" b="1">
                          <a:solidFill>
                            <a:srgbClr val="2E9C3A"/>
                          </a:solidFill>
                        </a:rPr>
                        <a:t>●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84550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[Account 2]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[0.0x]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[▲/▼ %]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600" b="1">
                          <a:solidFill>
                            <a:srgbClr val="E8B100"/>
                          </a:solidFill>
                        </a:rPr>
                        <a:t>●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58761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[Account 3]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[0.0x]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[▲/▼ %]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600" b="1">
                          <a:solidFill>
                            <a:srgbClr val="D64545"/>
                          </a:solidFill>
                        </a:rPr>
                        <a:t>●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05623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[Account 4]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[0.0x]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[▲/▼ %]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600" b="1">
                          <a:solidFill>
                            <a:srgbClr val="2E9C3A"/>
                          </a:solidFill>
                        </a:rPr>
                        <a:t>●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4784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[Account 5]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[0.0x]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>
                          <a:solidFill>
                            <a:srgbClr val="1A1A1A"/>
                          </a:solidFill>
                        </a:rPr>
                        <a:t>[▲/▼ %]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600" b="1">
                          <a:solidFill>
                            <a:srgbClr val="2E9C3A"/>
                          </a:solidFill>
                        </a:rPr>
                        <a:t>●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1117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TOTAL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—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—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[#]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[$]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[0.0x]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—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50" b="1">
                          <a:solidFill>
                            <a:srgbClr val="0A3D5C"/>
                          </a:solidFill>
                        </a:rPr>
                        <a:t>—</a:t>
                      </a:r>
                    </a:p>
                  </a:txBody>
                  <a:tcPr marT="9072" marB="9072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8E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725824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94B2A59-DC13-3152-6852-B1A9B8BE8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03  INVENTORY STATUS  /  ESTADO DEL INVENTARIO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429768" y="8778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Total Units on Floor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Total Unidades en Piso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9768" y="124358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[#]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159105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across all accounts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2578608" y="8778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Total Units in Transit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Unidades en Tránsito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78608" y="124358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[#]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78608" y="159105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ordered, not delivered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17720" y="80467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4727448" y="8778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Total Backlog Value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Valor del Backlog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27448" y="124358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$[X,XXX]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27448" y="159105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open purchase orders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66560" y="80467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6876288" y="8778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Avg Weeks of Cover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1A6B8A"/>
                </a:solidFill>
              </a:rPr>
              <a:t>Semanas de Cobertura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76288" y="124358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3D5C"/>
                </a:solidFill>
              </a:rPr>
              <a:t>[#] wks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76288" y="159105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4A6572"/>
                </a:solidFill>
              </a:rPr>
              <a:t>at current sell rate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192024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32004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INVENTORY BY SKU / ACCOUNT  /  INVENTARIO POR SKU / CUENTA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320040" y="361188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3" name="Text 111"/>
          <p:cNvSpPr/>
          <p:nvPr/>
        </p:nvSpPr>
        <p:spPr>
          <a:xfrm>
            <a:off x="32004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INVENTORY ISSUES / CONCERNS  /  PROBLEMAS DE INVENTARIO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20040" y="3959352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15" name="Text 113"/>
          <p:cNvSpPr/>
          <p:nvPr/>
        </p:nvSpPr>
        <p:spPr>
          <a:xfrm>
            <a:off x="429768" y="4023360"/>
            <a:ext cx="828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Stock-outs, slow movers, transit delays, damage, or anything impacting floor availability / Quiebres de stock, productos de baja rotación, retrasos en tránsito, daños u otro problema de disponibilidad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429768" y="4233672"/>
            <a:ext cx="8284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[e.g. SKU X has been sitting 60+ days at Account Y with no movement — recommend swap or promo]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[e.g. Order placed 3 weeks ago still not confirmed — needs follow-up with logistics]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E9867EA3-5BBE-D146-AB5C-DFFE2A60A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763963"/>
              </p:ext>
            </p:extLst>
          </p:nvPr>
        </p:nvGraphicFramePr>
        <p:xfrm>
          <a:off x="317500" y="2235200"/>
          <a:ext cx="8407400" cy="12192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2466726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9979191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33277019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68308571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910143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79655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093207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018395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17437826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Account
Cuenta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SKU / Model
SKU / Modelo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On Floor
En Piso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Sold MTD
Vendido MTD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In Transit
En Tránsito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Reorder?
Reordenar?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Next Action
Próxima Acción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Target Stock
Stock Meta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Days Cover
Días Cobertura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487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1]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[SKU/Model Name]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2E9C3A"/>
                          </a:solidFill>
                        </a:rPr>
                        <a:t>● No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[—]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8335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1]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[SKU/Model Name]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D64545"/>
                          </a:solidFill>
                        </a:rPr>
                        <a:t>● Yes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[Place order]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1717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2]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[SKU/Model Name]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 dirty="0">
                          <a:solidFill>
                            <a:srgbClr val="E8B100"/>
                          </a:solidFill>
                        </a:rPr>
                        <a:t>● Soon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[Monitor]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2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3]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[SKU/Model Name]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2E9C3A"/>
                          </a:solidFill>
                        </a:rPr>
                        <a:t>● No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[—]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dirty="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8890" marB="889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2895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4A89D65-7871-C0A4-E86B-92BC71EEE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04  COMMERCIAL NARRATIVE  /  NARRATIVA COMERCIAL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95528"/>
            <a:ext cx="4251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429768" y="83210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What worked this month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Qué funcionó este mes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9768" y="1161288"/>
            <a:ext cx="4041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[e.g. Promo event at Account X drove 8 units in one weekend]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[Good response to new display layout at Account Y]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[Training session improved close rate at store Z]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27448" y="795528"/>
            <a:ext cx="4251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4837176" y="83210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What didn't work / challenges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Qué no funcionó / desafíos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37176" y="1161288"/>
            <a:ext cx="4041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[e.g. Low foot traffic at Account A throughout the month]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[Competitor promotion affected our conversion at Account B]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[Delayed delivery caused loss of 2 sales at Account C]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251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429768" y="28712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Customer / consumer feedback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Retroalimentación de clientes / consumidores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3200400"/>
            <a:ext cx="4041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[e.g. End consumers asking for fabric options not in current lineup]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[Sales staff at Account X requests product demo support]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[Price objection most common at mid-tier accounts]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27448" y="2834640"/>
            <a:ext cx="4251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4837176" y="28712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Brand &amp; market observations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0A3D5C"/>
                </a:solidFill>
              </a:rPr>
              <a:t>Observaciones de marca y mercado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37176" y="3200400"/>
            <a:ext cx="4041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[e.g. Competitor X launched new SKU at lower price point]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[Positive media coverage on home comfort trend in the market]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6572"/>
                </a:solidFill>
              </a:rPr>
              <a:t>[Opportunity: new mall opening in Q3 — anchor furniture tenant slot available]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057A1C-8990-0B91-B2F6-DE1AED510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05  PIPELINE &amp; NEXT 45 DAYS  /  PIPELINE Y PRÓXIMOS 45 DÍAS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ACTIVE PIPELINE  /  PIPELINE ACTIVO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20040" y="283464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87" name="Text 85"/>
          <p:cNvSpPr/>
          <p:nvPr/>
        </p:nvSpPr>
        <p:spPr>
          <a:xfrm>
            <a:off x="32004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COMMITMENTS THIS MONTH  /  COMPROMISOS ESTE MES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20040" y="3182112"/>
            <a:ext cx="4206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89" name="Text 87"/>
          <p:cNvSpPr/>
          <p:nvPr/>
        </p:nvSpPr>
        <p:spPr>
          <a:xfrm>
            <a:off x="429768" y="324612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Orders to place / confirm / Órdenes a colocar / confirmar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29768" y="3456432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[Account + # units + target date]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[Account + # units + target date]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[e.g. Liverpool order — 30 units — by June 15]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[e.g. Atlas restock — 18 units — by June 20]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63440" y="3182112"/>
            <a:ext cx="41605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92" name="Text 90"/>
          <p:cNvSpPr/>
          <p:nvPr/>
        </p:nvSpPr>
        <p:spPr>
          <a:xfrm>
            <a:off x="4773168" y="324612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Activities &amp; visits planned / Actividades y visitas planeadas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773168" y="3456432"/>
            <a:ext cx="3941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[Account visit / training — date]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[Promo event — store / date]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[New prospect meeting — company / date]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[Market visit — city / date]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439CC235-B303-3D4C-84D9-84D46669C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249110"/>
              </p:ext>
            </p:extLst>
          </p:nvPr>
        </p:nvGraphicFramePr>
        <p:xfrm>
          <a:off x="317500" y="1092200"/>
          <a:ext cx="8407400" cy="123444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7903875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245943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77718579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3898840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38428128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35156934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1728198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67867196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Account
Cuenta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Opportunity
Oportunidad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Est. Units
Und. Est.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Est. $ USD
Valor Est.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Probability
Probabilidad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Expected Close
Cierre Est.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Next Action
Próxima Acción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Owner
Responsable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961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A]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[e.g. 10-store program expansion]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2E9C3A"/>
                          </a:solidFill>
                        </a:rPr>
                        <a:t>● High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dirty="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[Send contract]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816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B]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[e.g. New SKU introduction]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E8B100"/>
                          </a:solidFill>
                        </a:rPr>
                        <a:t>● Med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[Follow up PO]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4386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C]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[e.g. Credit approval pending]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D64545"/>
                          </a:solidFill>
                        </a:rPr>
                        <a:t>● Low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[Await approval]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984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[New prospect]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[e.g. Initial contact / first order]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[$]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E8B100"/>
                          </a:solidFill>
                        </a:rPr>
                        <a:t>● Med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[Send proposal]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dirty="0">
                          <a:solidFill>
                            <a:srgbClr val="1A1A1A"/>
                          </a:solidFill>
                        </a:rPr>
                        <a:t>[Name]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1944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13AFFF4-9B87-7E29-B261-B4EAA37FC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06  NEW CUSTOMER DEPLOYMENT  /  DESPLIEGUE DE NUEVOS CLIENTES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572"/>
                </a:solidFill>
              </a:rPr>
              <a:t>Only include accounts not yet active — new programs in implementation or onboarding.  /  Solo incluir cuentas aún no activas — programas nuevos en implementación o apertura.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20040" y="214884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70" name="Text 68"/>
          <p:cNvSpPr/>
          <p:nvPr/>
        </p:nvSpPr>
        <p:spPr>
          <a:xfrm>
            <a:off x="32004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ONBOARDING NOTES  /  NOTAS DE IMPLEMENTACIÓN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20040" y="2496312"/>
            <a:ext cx="85039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72" name="Text 70"/>
          <p:cNvSpPr/>
          <p:nvPr/>
        </p:nvSpPr>
        <p:spPr>
          <a:xfrm>
            <a:off x="429768" y="2560320"/>
            <a:ext cx="828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Implementation context — delays, wins, learnings, support needed / Contexto de implementación — retrasos, logros, aprendizajes, soporte necesario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29768" y="2770632"/>
            <a:ext cx="8284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[Account A]: [Status update — what's happening, what's next, any blocker]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[Account B]: [Status update]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[Account C]: [Status update — e.g. store fixture delayed, launch pushed to next month]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3776472"/>
            <a:ext cx="8503920" cy="1078992"/>
          </a:xfrm>
          <a:prstGeom prst="roundRect">
            <a:avLst>
              <a:gd name="adj" fmla="val 5932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dash"/>
          </a:ln>
        </p:spPr>
        <p:txBody>
          <a:bodyPr/>
          <a:lstStyle/>
          <a:p>
            <a:endParaRPr lang="en-MX"/>
          </a:p>
        </p:txBody>
      </p:sp>
      <p:sp>
        <p:nvSpPr>
          <p:cNvPr id="75" name="Text 73"/>
          <p:cNvSpPr/>
          <p:nvPr/>
        </p:nvSpPr>
        <p:spPr>
          <a:xfrm>
            <a:off x="457200" y="3776472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572"/>
                </a:solidFill>
              </a:rPr>
              <a:t>📷  PHOTOS / FOTOS  —  Add implementation photos here (new displays, store openings, training sessions)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A6572"/>
                </a:solidFill>
              </a:rPr>
              <a:t>         Agregar fotos de implementación aquí (nuevas exhibiciones, aperturas, sesiones de entrenamiento)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97CF1E8A-CA63-8F44-9BFF-F9E2BA534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965179"/>
              </p:ext>
            </p:extLst>
          </p:nvPr>
        </p:nvGraphicFramePr>
        <p:xfrm>
          <a:off x="317500" y="1003300"/>
          <a:ext cx="8407400" cy="96012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33762952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865288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80711129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6390494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84142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424933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4661909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25530272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Market
Mercado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Dealer
Distribuidor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Customer
Cliente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Doors
Tiendas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Total Slots
Slots Total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Launch Date
Fecha Lanzamiento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Status
Estatus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850" b="1">
                          <a:solidFill>
                            <a:srgbClr val="FFFFFF"/>
                          </a:solidFill>
                        </a:rPr>
                        <a:t>Next Step
Próximo Paso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4397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[Country]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[Dealer]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~[#]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2E9C3A"/>
                          </a:solidFill>
                        </a:rPr>
                        <a:t>● On Track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[Action]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053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[Country]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[Dealer]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~[#]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dirty="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E8B100"/>
                          </a:solidFill>
                        </a:rPr>
                        <a:t>● In Progress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[Action]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60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[Country]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[Dealer]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[Account Name]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~[#]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>
                          <a:solidFill>
                            <a:srgbClr val="1A1A1A"/>
                          </a:solidFill>
                        </a:rPr>
                        <a:t>[Month YYYY]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900" b="1">
                          <a:solidFill>
                            <a:srgbClr val="D64545"/>
                          </a:solidFill>
                        </a:rPr>
                        <a:t>● Delayed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X" sz="900" dirty="0">
                          <a:solidFill>
                            <a:srgbClr val="1A1A1A"/>
                          </a:solidFill>
                        </a:rPr>
                        <a:t>[Action]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76939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5950B69-03F9-70D1-3AD1-484F4CFC6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07  NEEDS &amp; ESCALATIONS  /  NECESIDADES Y ESCALACIONES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95528"/>
            <a:ext cx="2788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411480" y="8321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Marketing &amp; Materials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Marketing y Materiales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2606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[POS material needed / Social content / Campaign support / Product brochures]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[Specify: what, for which account, by when]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18688" y="795528"/>
            <a:ext cx="2788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3310128" y="8321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Pricing &amp; Commercial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Precios y Soporte Comercial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10128" y="1161288"/>
            <a:ext cx="2606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[Special pricing request / Quote for large order / Promotion support / Payment terms]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[Specify: account, amount, context]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17336" y="795528"/>
            <a:ext cx="2788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6208776" y="8321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Product &amp; Inventory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Producto e Inventario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08776" y="1161288"/>
            <a:ext cx="2606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[New SKUs to present / Stock availability / Lead time issue / Sample request]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[Specify: SKU, quantity, urgency]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2788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411480" y="28895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Training &amp; Support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Entrenamiento y Soporte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1480" y="3218688"/>
            <a:ext cx="2606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[Sales training needed at account / Product knowledge gap / Tech support for display]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[Specify: account, format, date]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2852928"/>
            <a:ext cx="2788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/>
          <p:nvPr/>
        </p:nvSpPr>
        <p:spPr>
          <a:xfrm>
            <a:off x="3310128" y="28895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Logistics &amp; Operations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Logística y Operaciones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10128" y="3218688"/>
            <a:ext cx="2606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[Customs issue / Delivery delay / Damage claim / Warehouse coordination]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[Specify: order #, status, what's needed]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17336" y="2852928"/>
            <a:ext cx="2788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/>
          <p:nvPr/>
        </p:nvSpPr>
        <p:spPr>
          <a:xfrm>
            <a:off x="6208776" y="28895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Strategic / Other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0A3D5C"/>
                </a:solidFill>
              </a:rPr>
              <a:t>Estratégico / Otro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08776" y="3218688"/>
            <a:ext cx="2606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[Competitor intelligence / New market opportunity / Contract / Legal / Other]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A6572"/>
                </a:solidFill>
              </a:rPr>
              <a:t>[Specify clearly]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59DAA4-A3C3-493D-D159-0B369EB5B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08  MARKETING UPDATE  /  ACTUALIZACIÓN DE MARKETING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9552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429768" y="8595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Events &amp; Activations / Eventos y Activaciones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29768" y="1069848"/>
            <a:ext cx="2569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[Trade show / promo event / roadshow name + date + result]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[e.g. Expo Habitat — 50m² stand — 200 leads]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[e.g. Costco special event — Store X — $8K in 15 days]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79552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3355848" y="8595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Digital / Social Media / Digital / Redes Sociales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355848" y="1069848"/>
            <a:ext cx="2569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[Posts published / reach / engagement highlight]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[Paid campaign result if applicable]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[Influencer activation if applicable]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[Website or e-commerce traffic notes]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79552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6144768" y="8595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In-Store Execution / Ejecución en Tienda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44768" y="1069848"/>
            <a:ext cx="2569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[Display updates / planogram changes]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[POS material installed at which accounts]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[Training delivered — account / # staff]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• [Visual merchandising changes]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32004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MARKETING ASKS  /  NECESIDADES DE MARKETING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8503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429768" y="3154680"/>
            <a:ext cx="828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6B8A"/>
                </a:solidFill>
              </a:rPr>
              <a:t>Specific marketing support needed from LZB this month / Soporte de marketing específico que necesito del equipo LZB este mes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9768" y="3364992"/>
            <a:ext cx="8284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[e.g. Social posts for Colombia market — need 4 posts for June]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[e.g. Brand material for new Atlas stores — need POS kit x6]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DA4B0"/>
                </a:solidFill>
              </a:rPr>
              <a:t>[e.g. Approval for local promotion at Account X]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414223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D6EAF2"/>
          </a:solidFill>
          <a:ln w="12700">
            <a:solidFill>
              <a:srgbClr val="C8DCE8"/>
            </a:solidFill>
            <a:prstDash val="dash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/>
          <p:nvPr/>
        </p:nvSpPr>
        <p:spPr>
          <a:xfrm>
            <a:off x="457200" y="4142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572"/>
                </a:solidFill>
              </a:rPr>
              <a:t>📷  Add photos of activations, displays, or events  /  Agregar fotos de activaciones, exhibiciones o eventos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DA4B0"/>
                </a:solidFill>
              </a:rPr>
              <a:t>Confidential. Internal Use Only.</a:t>
            </a:r>
            <a:endParaRPr lang="en-US" sz="6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D1E19-6921-1358-0C71-0E1A57A33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101" y="163421"/>
            <a:ext cx="816859" cy="3407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line">
            <a:avLst/>
          </a:prstGeom>
          <a:solidFill>
            <a:srgbClr val="083248"/>
          </a:solidFill>
          <a:ln w="12700">
            <a:solidFill>
              <a:srgbClr val="08324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2"/>
                </a:solidFill>
              </a:rPr>
              <a:t>Next review:  [Date]  —  [Format: in-person / video call]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4B0"/>
                </a:solidFill>
              </a:rPr>
              <a:t>Questions or follow-ups:  [Dealer contact email]  |  Jeff:  [email]  |  LATAM Team:  [email]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4B0"/>
                </a:solidFill>
              </a:rPr>
              <a:t>La-Z-Boy LATAM  •  Confidential. Internal Use Only.  •  [Month YYYY]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DA8577-E4EE-3048-BA8B-AA01E3891C3E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3e77ed41-b218-47e8-a014-18d3df5acaf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4991</TotalTime>
  <Words>2031</Words>
  <Application>Microsoft Macintosh PowerPoint</Application>
  <PresentationFormat>On-screen Show (16:9)</PresentationFormat>
  <Paragraphs>370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Eugenio Chacon</cp:lastModifiedBy>
  <cp:revision>3</cp:revision>
  <dcterms:created xsi:type="dcterms:W3CDTF">2026-06-16T15:21:50Z</dcterms:created>
  <dcterms:modified xsi:type="dcterms:W3CDTF">2026-07-06T20:06:45Z</dcterms:modified>
</cp:coreProperties>
</file>